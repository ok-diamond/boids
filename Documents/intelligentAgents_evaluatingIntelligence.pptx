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89" r:id="rId2"/>
    <p:sldId id="290" r:id="rId3"/>
    <p:sldId id="300" r:id="rId4"/>
    <p:sldId id="306" r:id="rId5"/>
    <p:sldId id="304" r:id="rId6"/>
    <p:sldId id="305" r:id="rId7"/>
    <p:sldId id="301" r:id="rId8"/>
    <p:sldId id="303" r:id="rId9"/>
    <p:sldId id="292" r:id="rId10"/>
    <p:sldId id="307" r:id="rId11"/>
    <p:sldId id="308" r:id="rId12"/>
    <p:sldId id="309" r:id="rId13"/>
    <p:sldId id="3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B4A74C-F69A-40BF-868C-AE17408811A6}">
          <p14:sldIdLst>
            <p14:sldId id="289"/>
            <p14:sldId id="290"/>
            <p14:sldId id="300"/>
            <p14:sldId id="306"/>
            <p14:sldId id="304"/>
            <p14:sldId id="305"/>
            <p14:sldId id="301"/>
            <p14:sldId id="303"/>
            <p14:sldId id="292"/>
            <p14:sldId id="307"/>
            <p14:sldId id="308"/>
            <p14:sldId id="309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ra De Cozar" initials="TDC" lastIdx="3" clrIdx="0">
    <p:extLst>
      <p:ext uri="{19B8F6BF-5375-455C-9EA6-DF929625EA0E}">
        <p15:presenceInfo xmlns:p15="http://schemas.microsoft.com/office/powerpoint/2012/main" userId="S-1-5-21-1664130791-3153540899-3044996548-716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159"/>
    <a:srgbClr val="112C0B"/>
    <a:srgbClr val="B92121"/>
    <a:srgbClr val="D92A2B"/>
    <a:srgbClr val="004648"/>
    <a:srgbClr val="005E60"/>
    <a:srgbClr val="00766E"/>
    <a:srgbClr val="009186"/>
    <a:srgbClr val="009BBD"/>
    <a:srgbClr val="554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31" autoAdjust="0"/>
    <p:restoredTop sz="86190" autoAdjust="0"/>
  </p:normalViewPr>
  <p:slideViewPr>
    <p:cSldViewPr snapToGrid="0" snapToObjects="1">
      <p:cViewPr varScale="1">
        <p:scale>
          <a:sx n="109" d="100"/>
          <a:sy n="109" d="100"/>
        </p:scale>
        <p:origin x="56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8" d="100"/>
          <a:sy n="98" d="100"/>
        </p:scale>
        <p:origin x="-364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732D1-0119-4424-ADB1-6A88624C9257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026BA-B8A7-4B5A-A3B0-0B7D31088B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197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54FE6-3F31-4904-9137-AFF662B7D702}" type="datetimeFigureOut">
              <a:rPr lang="en-GB" smtClean="0"/>
              <a:t>27/04/2025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9E1F4-77C1-461E-ABFF-BFE7DD57AF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7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383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6300" y="1742900"/>
            <a:ext cx="53594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416398" y="4161275"/>
            <a:ext cx="5359206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949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int Cli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6000" y="1742900"/>
            <a:ext cx="54000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396099" y="4161275"/>
            <a:ext cx="5399803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853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chemeClr val="accent4"/>
              </a:gs>
              <a:gs pos="7000">
                <a:schemeClr val="accent4"/>
              </a:gs>
              <a:gs pos="63000">
                <a:schemeClr val="accent2"/>
              </a:gs>
              <a:gs pos="100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 flipH="1">
            <a:off x="0" y="0"/>
            <a:ext cx="12190412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 l="-20940" t="-1372" b="-228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1876" y="2409650"/>
            <a:ext cx="7262923" cy="238760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09550" y="5562600"/>
            <a:ext cx="11525096" cy="9477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36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7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1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F0D9B-72AB-8F40-9E26-3180418DB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477283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9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with Ann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548A2-FB12-2146-8076-97DCD38635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05010" y="1315456"/>
            <a:ext cx="8897937" cy="5029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12DC3E-6500-494A-9C7A-53946AA11C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9362" y="6689529"/>
            <a:ext cx="6171043" cy="16847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93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ing 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09" y="-2"/>
            <a:ext cx="10185395" cy="896472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62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  <p:extLst>
    <p:ext uri="{DCECCB84-F9BA-43D5-87BE-67443E8EF086}">
      <p15:sldGuideLst xmlns:p15="http://schemas.microsoft.com/office/powerpoint/2012/main">
        <p15:guide id="2" pos="7" userDrawn="1">
          <p15:clr>
            <a:srgbClr val="FBAE40"/>
          </p15:clr>
        </p15:guide>
        <p15:guide id="3" pos="753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eacons of Excell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rgbClr val="009BBD"/>
              </a:gs>
              <a:gs pos="100000">
                <a:srgbClr val="1B2A6B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43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2592090"/>
            <a:ext cx="12192000" cy="426591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5137" name="Picture 17" descr="Uok_Logo_PMS294_P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243" y="299723"/>
            <a:ext cx="1343323" cy="54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 userDrawn="1"/>
        </p:nvSpPr>
        <p:spPr>
          <a:xfrm>
            <a:off x="623392" y="299724"/>
            <a:ext cx="374441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GB" sz="1200" dirty="0">
                <a:solidFill>
                  <a:srgbClr val="002060"/>
                </a:solidFill>
              </a:rPr>
              <a:t>The UK’s European university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23392" y="989117"/>
            <a:ext cx="5568619" cy="1512168"/>
          </a:xfrm>
          <a:solidFill>
            <a:schemeClr val="tx2">
              <a:lumMod val="75000"/>
            </a:schemeClr>
          </a:solidFill>
        </p:spPr>
        <p:txBody>
          <a:bodyPr lIns="252000" tIns="273600" rIns="252000"/>
          <a:lstStyle>
            <a:lvl1pPr marL="0" indent="0">
              <a:lnSpc>
                <a:spcPts val="2500"/>
              </a:lnSpc>
              <a:buNone/>
              <a:defRPr sz="2400" spc="-100" baseline="0">
                <a:solidFill>
                  <a:schemeClr val="bg1"/>
                </a:solidFill>
                <a:latin typeface="Century Schoolbook" pitchFamily="18" charset="0"/>
              </a:defRPr>
            </a:lvl1pPr>
          </a:lstStyle>
          <a:p>
            <a:pPr lvl="0"/>
            <a:r>
              <a:rPr lang="en-US" dirty="0"/>
              <a:t>TYPE YOUR HEADING HERE 2014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3393" y="2488937"/>
            <a:ext cx="5568619" cy="664498"/>
          </a:xfrm>
          <a:solidFill>
            <a:schemeClr val="tx2">
              <a:lumMod val="75000"/>
            </a:schemeClr>
          </a:solidFill>
        </p:spPr>
        <p:txBody>
          <a:bodyPr lIns="252000" tIns="0" rIns="252000" bIns="154800" anchor="ctr" anchorCtr="0"/>
          <a:lstStyle>
            <a:lvl1pPr marL="0" indent="0">
              <a:lnSpc>
                <a:spcPts val="1380"/>
              </a:lnSpc>
              <a:spcBef>
                <a:spcPts val="0"/>
              </a:spcBef>
              <a:buNone/>
              <a:defRPr sz="1400" i="1" spc="-50">
                <a:solidFill>
                  <a:srgbClr val="D6A300"/>
                </a:solidFill>
                <a:latin typeface="Century Schoolbook"/>
                <a:cs typeface="Century Schoolbook"/>
              </a:defRPr>
            </a:lvl1pPr>
          </a:lstStyle>
          <a:p>
            <a:pPr lvl="0"/>
            <a:r>
              <a:rPr lang="en-US" dirty="0"/>
              <a:t>Sub heading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8365067" y="1447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1067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117600" y="6505576"/>
            <a:ext cx="8077200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203200" y="6489700"/>
            <a:ext cx="89746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3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 flipV="1">
            <a:off x="-3" y="0"/>
            <a:ext cx="12190413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2002004" y="1"/>
            <a:ext cx="10194758" cy="8964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2004" y="98987"/>
            <a:ext cx="10189995" cy="698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E112F-1B58-4F80-8548-230F871317D2}" type="datetimeFigureOut">
              <a:rPr lang="en-GB" smtClean="0"/>
              <a:t>27/04/2025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0"/>
            <a:ext cx="1696455" cy="62599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2D6D5-F6C2-4C88-B07F-0F9DC0B2C38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1997242" y="0"/>
            <a:ext cx="0" cy="8964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1" r:id="rId2"/>
    <p:sldLayoutId id="2147483662" r:id="rId3"/>
    <p:sldLayoutId id="2147483658" r:id="rId4"/>
    <p:sldLayoutId id="2147483663" r:id="rId5"/>
    <p:sldLayoutId id="2147483664" r:id="rId6"/>
    <p:sldLayoutId id="2147483650" r:id="rId7"/>
    <p:sldLayoutId id="2147483651" r:id="rId8"/>
    <p:sldLayoutId id="2147483665" r:id="rId9"/>
    <p:sldLayoutId id="2147483666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Designing Intelligent Agents: Evaluating Intelligence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416397" y="4948354"/>
            <a:ext cx="5359206" cy="1079795"/>
          </a:xfrm>
        </p:spPr>
        <p:txBody>
          <a:bodyPr/>
          <a:lstStyle/>
          <a:p>
            <a:r>
              <a:rPr lang="en-GB" dirty="0"/>
              <a:t>Colin Johnson</a:t>
            </a:r>
          </a:p>
        </p:txBody>
      </p:sp>
    </p:spTree>
    <p:extLst>
      <p:ext uri="{BB962C8B-B14F-4D97-AF65-F5344CB8AC3E}">
        <p14:creationId xmlns:p14="http://schemas.microsoft.com/office/powerpoint/2010/main" val="285465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9F434-9506-C541-8909-0D5DEFFC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(General) Intelligence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F25C0-E5EA-FF41-8491-3B4E788B060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0"/>
            <a:ext cx="10638218" cy="559940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Artificial Intelligence:</a:t>
            </a:r>
          </a:p>
          <a:p>
            <a:pPr lvl="1"/>
            <a:r>
              <a:rPr lang="en-GB" i="1" dirty="0"/>
              <a:t>“The capacity of computers or other machines to exhibit or simulate intelligent behaviour; the field of study concerned with this.” </a:t>
            </a:r>
            <a:r>
              <a:rPr lang="en-GB" dirty="0"/>
              <a:t>(OED)</a:t>
            </a:r>
            <a:endParaRPr lang="en-GB" i="1" dirty="0"/>
          </a:p>
          <a:p>
            <a:pPr lvl="1"/>
            <a:r>
              <a:rPr lang="en-GB" i="1" dirty="0"/>
              <a:t>“the theory and development of computer systems able to perform tasks normally requiring human intelligence, such as visual perception, speech recognition, decision-making, and translation between languages” </a:t>
            </a:r>
            <a:r>
              <a:rPr lang="en-GB" dirty="0"/>
              <a:t>(Oxford Living Dictionary)</a:t>
            </a:r>
            <a:endParaRPr lang="en-GB" i="1" dirty="0"/>
          </a:p>
          <a:p>
            <a:r>
              <a:rPr lang="en-GB" dirty="0"/>
              <a:t>Artificial General Intelligence</a:t>
            </a:r>
          </a:p>
          <a:p>
            <a:pPr lvl="1"/>
            <a:r>
              <a:rPr lang="en-GB" i="1" dirty="0"/>
              <a:t>“Artificial General Intelligence (AGI) would be a machine capable of understanding the world as well as any human, and with the same capacity to learn how to carry out a huge range of tasks.” </a:t>
            </a:r>
            <a:r>
              <a:rPr lang="en-GB" dirty="0"/>
              <a:t>(Nick Heath)</a:t>
            </a:r>
            <a:endParaRPr lang="en-GB" i="1" dirty="0"/>
          </a:p>
          <a:p>
            <a:pPr lvl="1"/>
            <a:r>
              <a:rPr lang="en-GB" dirty="0"/>
              <a:t>Some problems are </a:t>
            </a:r>
            <a:r>
              <a:rPr lang="en-GB" i="1" dirty="0"/>
              <a:t>AI-hard</a:t>
            </a:r>
            <a:r>
              <a:rPr lang="en-GB" dirty="0"/>
              <a:t> aka </a:t>
            </a:r>
            <a:r>
              <a:rPr lang="en-GB" i="1" dirty="0"/>
              <a:t>AI-complete</a:t>
            </a:r>
            <a:r>
              <a:rPr lang="en-GB" dirty="0"/>
              <a:t>, meaning that there is no way to solve those individual problems in isolation without building a full AGI system.</a:t>
            </a:r>
          </a:p>
          <a:p>
            <a:pPr lvl="2"/>
            <a:r>
              <a:rPr lang="en-GB" dirty="0"/>
              <a:t>Clearly a pun on complexity classes—but, doesn’t have a formal definition unlike </a:t>
            </a:r>
            <a:r>
              <a:rPr lang="en-GB" i="1" dirty="0"/>
              <a:t>NP-hard</a:t>
            </a:r>
            <a:r>
              <a:rPr lang="en-GB" dirty="0"/>
              <a:t> etc.</a:t>
            </a:r>
          </a:p>
          <a:p>
            <a:pPr lvl="1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6E4B4-0176-2A43-A98F-4F8566364008}"/>
              </a:ext>
            </a:extLst>
          </p:cNvPr>
          <p:cNvSpPr txBox="1"/>
          <p:nvPr/>
        </p:nvSpPr>
        <p:spPr>
          <a:xfrm>
            <a:off x="8972865" y="6642556"/>
            <a:ext cx="32175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https://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  <a:latin typeface="+mj-lt"/>
              </a:rPr>
              <a:t>www.zdnet.com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/article/what-is-artificial-general-intelligence/</a:t>
            </a:r>
          </a:p>
        </p:txBody>
      </p:sp>
    </p:spTree>
    <p:extLst>
      <p:ext uri="{BB962C8B-B14F-4D97-AF65-F5344CB8AC3E}">
        <p14:creationId xmlns:p14="http://schemas.microsoft.com/office/powerpoint/2010/main" val="245390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1869-BA35-A741-8FD3-4F1C6B23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901E-CBE0-8543-8A09-4BEE041C25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7" y="1159611"/>
            <a:ext cx="10629777" cy="4772838"/>
          </a:xfrm>
        </p:spPr>
        <p:txBody>
          <a:bodyPr/>
          <a:lstStyle/>
          <a:p>
            <a:r>
              <a:rPr lang="en-GB" dirty="0"/>
              <a:t>How do we evaluate (artificial) intelligence?</a:t>
            </a:r>
          </a:p>
          <a:p>
            <a:r>
              <a:rPr lang="en-GB" dirty="0"/>
              <a:t>Evaluating </a:t>
            </a:r>
            <a:r>
              <a:rPr lang="en-GB" i="1" dirty="0"/>
              <a:t>human</a:t>
            </a:r>
            <a:r>
              <a:rPr lang="en-GB" dirty="0"/>
              <a:t> intelligence is difficult, fraught and has political/cultural dimensions</a:t>
            </a:r>
          </a:p>
          <a:p>
            <a:pPr lvl="1"/>
            <a:r>
              <a:rPr lang="en-GB" dirty="0"/>
              <a:t>What counts as “intelligent” behaviour?</a:t>
            </a:r>
          </a:p>
          <a:p>
            <a:pPr lvl="1"/>
            <a:r>
              <a:rPr lang="en-GB" dirty="0"/>
              <a:t>Is there a single thing that counts as intelligence?</a:t>
            </a:r>
          </a:p>
          <a:p>
            <a:pPr lvl="2"/>
            <a:r>
              <a:rPr lang="en-GB" dirty="0"/>
              <a:t>What about analytical/linguistic/mathematical/cultural/emotional/spiritual/creative intelligence? Are these all aspects of “intelligence” or are they attempts to shoehorn lots of other human characteristics into “intelligence”?</a:t>
            </a:r>
          </a:p>
          <a:p>
            <a:pPr lvl="1"/>
            <a:r>
              <a:rPr lang="en-GB" dirty="0"/>
              <a:t>How can we make evaluations of intelligence less culturally biased? Can a culture-free intelligence test be devised at all</a:t>
            </a:r>
          </a:p>
        </p:txBody>
      </p:sp>
    </p:spTree>
    <p:extLst>
      <p:ext uri="{BB962C8B-B14F-4D97-AF65-F5344CB8AC3E}">
        <p14:creationId xmlns:p14="http://schemas.microsoft.com/office/powerpoint/2010/main" val="167996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5019-4F4D-0A4A-99E6-DB1A9BFA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A5816-9BCC-3840-89E3-288842AEDB2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0"/>
            <a:ext cx="10258928" cy="547565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In AI, we don’t typically ask the question of “how intelligent is a system”</a:t>
            </a:r>
          </a:p>
          <a:p>
            <a:r>
              <a:rPr lang="en-GB" dirty="0"/>
              <a:t>…largely because, contrasted with the public image, we don’t really try to build “an AI”, but we write task-specific programs</a:t>
            </a:r>
          </a:p>
          <a:p>
            <a:pPr lvl="1"/>
            <a:r>
              <a:rPr lang="en-GB" dirty="0"/>
              <a:t>…and therefore, the measure of the performance is the performance on that task</a:t>
            </a:r>
          </a:p>
          <a:p>
            <a:pPr lvl="1"/>
            <a:r>
              <a:rPr lang="en-GB" dirty="0"/>
              <a:t>usually, the system is trained from scratch on that task rather than in context of wider learning</a:t>
            </a:r>
          </a:p>
          <a:p>
            <a:r>
              <a:rPr lang="en-GB" dirty="0"/>
              <a:t>More recently, there has been more focus on </a:t>
            </a:r>
            <a:r>
              <a:rPr lang="en-GB" i="1" dirty="0"/>
              <a:t>transfer learning</a:t>
            </a:r>
            <a:r>
              <a:rPr lang="en-GB" dirty="0"/>
              <a:t>, that is, taking a system that has been trained on one task, and seeing if that learning can “transfer” elsewhere.</a:t>
            </a:r>
          </a:p>
          <a:p>
            <a:pPr lvl="1"/>
            <a:r>
              <a:rPr lang="en-GB" dirty="0"/>
              <a:t>a canonical example is recent work in computer vision (e.g. inception, VGG-16, Xception)</a:t>
            </a:r>
          </a:p>
          <a:p>
            <a:pPr lvl="1"/>
            <a:r>
              <a:rPr lang="en-GB" dirty="0"/>
              <a:t>the idea here is to take a vision system trained on a wide variety of images, and transfer that “general knowledge” about how to classify and interpret visual scenes and apply it to a specific task</a:t>
            </a:r>
          </a:p>
          <a:p>
            <a:pPr lvl="1"/>
            <a:r>
              <a:rPr lang="en-GB" dirty="0"/>
              <a:t>the measure now is “how well does that system work with the input of knowledge from the transferred system, against learning from scratch”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992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CFC6-83FF-2F41-9086-1AA74CA0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Task Performance (Objective Measures)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9899-CE18-1241-B3AC-EBB46044F87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6469" y="1002020"/>
            <a:ext cx="4694115" cy="1670841"/>
          </a:xfrm>
        </p:spPr>
        <p:txBody>
          <a:bodyPr/>
          <a:lstStyle/>
          <a:p>
            <a:r>
              <a:rPr lang="en-GB" dirty="0"/>
              <a:t>Typically one or more </a:t>
            </a:r>
            <a:br>
              <a:rPr lang="en-GB" dirty="0"/>
            </a:br>
            <a:r>
              <a:rPr lang="en-GB" dirty="0"/>
              <a:t>numerical measures, e.g.:</a:t>
            </a:r>
          </a:p>
          <a:p>
            <a:pPr lvl="1"/>
            <a:r>
              <a:rPr lang="en-GB" dirty="0"/>
              <a:t>accuracy</a:t>
            </a:r>
          </a:p>
          <a:p>
            <a:pPr lvl="1"/>
            <a:r>
              <a:rPr lang="en-GB" dirty="0"/>
              <a:t>speed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AFC8B-6811-3743-8BD6-20F5663D5D85}"/>
              </a:ext>
            </a:extLst>
          </p:cNvPr>
          <p:cNvSpPr txBox="1"/>
          <p:nvPr/>
        </p:nvSpPr>
        <p:spPr>
          <a:xfrm>
            <a:off x="220548" y="3259013"/>
            <a:ext cx="5767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Comparison of difference conditions by mean and standard deviation: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EC06F-E4AA-B741-B310-5D67E9411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48" y="3905344"/>
            <a:ext cx="5767754" cy="2248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1FEBD2-4CCA-5840-AFD5-BA3D14859B94}"/>
              </a:ext>
            </a:extLst>
          </p:cNvPr>
          <p:cNvSpPr txBox="1"/>
          <p:nvPr/>
        </p:nvSpPr>
        <p:spPr>
          <a:xfrm>
            <a:off x="6387489" y="6396335"/>
            <a:ext cx="5802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https://machinelearningmastery.com/parametric-statistical-significance-tests-in-python/</a:t>
            </a:r>
          </a:p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https://journals.plos.org/plosone/article?id=10.1371/journal.pone.0078205</a:t>
            </a:r>
          </a:p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https://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  <a:latin typeface="+mj-lt"/>
              </a:rPr>
              <a:t>www.biologyforlife.com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/interpreting-error-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  <a:latin typeface="+mj-lt"/>
              </a:rPr>
              <a:t>bars.htmla</a:t>
            </a:r>
            <a:endParaRPr lang="en-GB" sz="8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40C32D-F54E-2D46-817E-186FA64C2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752" y="1342037"/>
            <a:ext cx="3469238" cy="25913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5965-670E-7C49-ACD4-551E52C2E4F4}"/>
              </a:ext>
            </a:extLst>
          </p:cNvPr>
          <p:cNvSpPr txBox="1"/>
          <p:nvPr/>
        </p:nvSpPr>
        <p:spPr>
          <a:xfrm>
            <a:off x="6164752" y="932088"/>
            <a:ext cx="402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bar chart with error bars of one </a:t>
            </a:r>
            <a:r>
              <a:rPr lang="en-GB" dirty="0" err="1">
                <a:latin typeface="+mj-lt"/>
              </a:rPr>
              <a:t>s.d.</a:t>
            </a:r>
            <a:endParaRPr lang="en-GB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737F94-102A-1143-A3AA-18F2CF7FB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981" y="4563736"/>
            <a:ext cx="5029200" cy="172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083363-15EB-B049-B286-75514B26D566}"/>
              </a:ext>
            </a:extLst>
          </p:cNvPr>
          <p:cNvSpPr txBox="1"/>
          <p:nvPr/>
        </p:nvSpPr>
        <p:spPr>
          <a:xfrm>
            <a:off x="7104981" y="4194404"/>
            <a:ext cx="402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t-test to compare means</a:t>
            </a:r>
          </a:p>
        </p:txBody>
      </p:sp>
    </p:spTree>
    <p:extLst>
      <p:ext uri="{BB962C8B-B14F-4D97-AF65-F5344CB8AC3E}">
        <p14:creationId xmlns:p14="http://schemas.microsoft.com/office/powerpoint/2010/main" val="251204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CB95-A6CB-FD48-8AB3-AD7FE5EC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if the task is more subjective?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B414E-7734-3044-9740-74B2C2211C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9722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Consider an agents that does something like having a conversation or writing a poem.</a:t>
            </a:r>
          </a:p>
          <a:p>
            <a:r>
              <a:rPr lang="en-GB" dirty="0"/>
              <a:t>How can we evaluate something </a:t>
            </a:r>
            <a:r>
              <a:rPr lang="en-GB" i="1" dirty="0"/>
              <a:t>subjective</a:t>
            </a:r>
            <a:r>
              <a:rPr lang="en-GB" dirty="0"/>
              <a:t> like this?</a:t>
            </a:r>
          </a:p>
          <a:p>
            <a:r>
              <a:rPr lang="en-GB" dirty="0"/>
              <a:t>Various approaches use user feedback from a number of people to map out that subjectivity</a:t>
            </a:r>
          </a:p>
          <a:p>
            <a:pPr lvl="1"/>
            <a:r>
              <a:rPr lang="en-GB" dirty="0"/>
              <a:t>You might want to do this for your coursework, but clearly given time constraints you won’t have time to do a large-scale participant study</a:t>
            </a:r>
          </a:p>
          <a:p>
            <a:r>
              <a:rPr lang="en-GB" dirty="0"/>
              <a:t>This could be asking people to rate the quality of the outputs/interactions</a:t>
            </a:r>
          </a:p>
          <a:p>
            <a:pPr lvl="1"/>
            <a:r>
              <a:rPr lang="en-GB" dirty="0"/>
              <a:t>perhaps on a number of dimensions: enjoyability, writing quality, emotional engagement, novelty</a:t>
            </a:r>
          </a:p>
          <a:p>
            <a:r>
              <a:rPr lang="en-GB" dirty="0"/>
              <a:t>…and/or, you could ask people to describe the outputs/interactions in words and then do a (lightweight) “thematic analysis” where you pull out common themes.</a:t>
            </a:r>
          </a:p>
          <a:p>
            <a:r>
              <a:rPr lang="en-GB" dirty="0"/>
              <a:t>Alternatively, </a:t>
            </a:r>
            <a:r>
              <a:rPr lang="en-GB" i="1" dirty="0"/>
              <a:t>Turing test</a:t>
            </a:r>
            <a:r>
              <a:rPr lang="en-GB" dirty="0"/>
              <a:t> type evaluations:</a:t>
            </a:r>
          </a:p>
          <a:p>
            <a:pPr lvl="1"/>
            <a:r>
              <a:rPr lang="en-GB" dirty="0"/>
              <a:t>that is, contrasting the computer on the task with humans doing the task</a:t>
            </a:r>
          </a:p>
        </p:txBody>
      </p:sp>
    </p:spTree>
    <p:extLst>
      <p:ext uri="{BB962C8B-B14F-4D97-AF65-F5344CB8AC3E}">
        <p14:creationId xmlns:p14="http://schemas.microsoft.com/office/powerpoint/2010/main" val="255710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041D-C3A4-C946-B7C2-6E13E832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</a:t>
            </a:r>
            <a:r>
              <a:rPr lang="en-GB" i="1" dirty="0"/>
              <a:t>Creative</a:t>
            </a:r>
            <a:r>
              <a:rPr lang="en-GB" dirty="0"/>
              <a:t>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768BD-5DEB-7249-AF71-0030F16AA4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0"/>
            <a:ext cx="10642600" cy="527928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What dimensions are there to this kind of </a:t>
            </a:r>
            <a:r>
              <a:rPr lang="en-GB" i="1" dirty="0"/>
              <a:t>creative</a:t>
            </a:r>
            <a:r>
              <a:rPr lang="en-GB" dirty="0"/>
              <a:t> intelligence?</a:t>
            </a:r>
          </a:p>
          <a:p>
            <a:r>
              <a:rPr lang="en-GB" dirty="0"/>
              <a:t>Clearly there is an aspect of </a:t>
            </a:r>
            <a:r>
              <a:rPr lang="en-GB" i="1" dirty="0"/>
              <a:t>novelty</a:t>
            </a:r>
            <a:endParaRPr lang="en-GB" dirty="0"/>
          </a:p>
          <a:p>
            <a:pPr lvl="1"/>
            <a:r>
              <a:rPr lang="en-GB" dirty="0"/>
              <a:t>implicit in “creative intelligence” is the idea of “something new”</a:t>
            </a:r>
          </a:p>
          <a:p>
            <a:r>
              <a:rPr lang="en-GB" dirty="0"/>
              <a:t>…but this isn’t everything. (Meaningless) novelty is easy.</a:t>
            </a:r>
          </a:p>
          <a:p>
            <a:r>
              <a:rPr lang="en-GB" dirty="0"/>
              <a:t>So, we might also want to evaluate the </a:t>
            </a:r>
            <a:r>
              <a:rPr lang="en-GB" i="1" dirty="0"/>
              <a:t>value</a:t>
            </a:r>
            <a:r>
              <a:rPr lang="en-GB" dirty="0"/>
              <a:t> aka </a:t>
            </a:r>
            <a:r>
              <a:rPr lang="en-GB" i="1" dirty="0"/>
              <a:t>quality</a:t>
            </a:r>
            <a:r>
              <a:rPr lang="en-GB" dirty="0"/>
              <a:t> of the outputs</a:t>
            </a:r>
          </a:p>
          <a:p>
            <a:pPr lvl="1"/>
            <a:r>
              <a:rPr lang="en-GB" dirty="0"/>
              <a:t>…is this a </a:t>
            </a:r>
            <a:r>
              <a:rPr lang="en-GB" i="1" dirty="0"/>
              <a:t>good</a:t>
            </a:r>
            <a:r>
              <a:rPr lang="en-GB" dirty="0"/>
              <a:t> example of that kind of creative intelligence</a:t>
            </a:r>
          </a:p>
          <a:p>
            <a:r>
              <a:rPr lang="en-GB" dirty="0"/>
              <a:t>...and perhaps also:</a:t>
            </a:r>
          </a:p>
          <a:p>
            <a:pPr lvl="1"/>
            <a:r>
              <a:rPr lang="en-GB" i="1" dirty="0"/>
              <a:t>skill—</a:t>
            </a:r>
            <a:r>
              <a:rPr lang="en-GB" dirty="0"/>
              <a:t>is the system demonstrate a mastery in its area</a:t>
            </a:r>
          </a:p>
          <a:p>
            <a:pPr lvl="1"/>
            <a:r>
              <a:rPr lang="en-GB" i="1" dirty="0"/>
              <a:t>imagination—</a:t>
            </a:r>
            <a:r>
              <a:rPr lang="en-GB" dirty="0"/>
              <a:t>is the system extending beyond existing examples</a:t>
            </a:r>
          </a:p>
          <a:p>
            <a:pPr lvl="1"/>
            <a:r>
              <a:rPr lang="en-GB" i="1" dirty="0"/>
              <a:t>appreciation—</a:t>
            </a:r>
            <a:r>
              <a:rPr lang="en-GB" dirty="0"/>
              <a:t>does the system seem to understand what is it doing</a:t>
            </a:r>
          </a:p>
          <a:p>
            <a:pPr lvl="1"/>
            <a:r>
              <a:rPr lang="en-GB" i="1" dirty="0"/>
              <a:t>independence—</a:t>
            </a:r>
            <a:r>
              <a:rPr lang="en-GB" dirty="0"/>
              <a:t>are the ideas that it generates different to its inputs, does it “add value”</a:t>
            </a:r>
            <a:endParaRPr lang="en-GB" i="1" dirty="0"/>
          </a:p>
          <a:p>
            <a:pPr lvl="1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03854-98E9-0F4E-8193-681DCEF026AF}"/>
              </a:ext>
            </a:extLst>
          </p:cNvPr>
          <p:cNvSpPr txBox="1"/>
          <p:nvPr/>
        </p:nvSpPr>
        <p:spPr>
          <a:xfrm>
            <a:off x="9163621" y="6543572"/>
            <a:ext cx="30267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http://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  <a:latin typeface="+mj-lt"/>
              </a:rPr>
              <a:t>www.thepaintingfool.com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/papers/colton_aaai08symp.pdf</a:t>
            </a:r>
          </a:p>
        </p:txBody>
      </p:sp>
    </p:spTree>
    <p:extLst>
      <p:ext uri="{BB962C8B-B14F-4D97-AF65-F5344CB8AC3E}">
        <p14:creationId xmlns:p14="http://schemas.microsoft.com/office/powerpoint/2010/main" val="380092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1A1E-BC27-3444-80CB-4DC68085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Exemplars for AGI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3EF2-0CAA-2B4D-A0A4-34B93291E9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Over the years, people have suggested that such-and-such might be an exemplar for intelligence, in the sense that “if a computer can do…then it must surely be generally intelligent”</a:t>
            </a:r>
          </a:p>
          <a:p>
            <a:pPr lvl="1"/>
            <a:r>
              <a:rPr lang="en-GB" dirty="0"/>
              <a:t>or, more softly, “…artificial general intelligence must surely be around the corner”</a:t>
            </a:r>
          </a:p>
          <a:p>
            <a:r>
              <a:rPr lang="en-GB" dirty="0"/>
              <a:t>These have typically turned out to be nonsense</a:t>
            </a:r>
          </a:p>
          <a:p>
            <a:pPr lvl="1"/>
            <a:r>
              <a:rPr lang="en-GB" dirty="0"/>
              <a:t>people have moved on—“if computers can do it…well, then, it clearly isn’t </a:t>
            </a:r>
            <a:r>
              <a:rPr lang="en-GB" i="1" dirty="0"/>
              <a:t>that</a:t>
            </a:r>
            <a:r>
              <a:rPr lang="en-GB" dirty="0"/>
              <a:t> intelligent, innit”</a:t>
            </a:r>
          </a:p>
          <a:p>
            <a:r>
              <a:rPr lang="en-GB" dirty="0"/>
              <a:t>Let’s consider three examples…then we will break into groups to discuss this.</a:t>
            </a:r>
          </a:p>
        </p:txBody>
      </p:sp>
    </p:spTree>
    <p:extLst>
      <p:ext uri="{BB962C8B-B14F-4D97-AF65-F5344CB8AC3E}">
        <p14:creationId xmlns:p14="http://schemas.microsoft.com/office/powerpoint/2010/main" val="154649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D3E2-F0FA-DE44-9407-52B03AF8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E656-0F6D-B54D-8B67-2304DBEC5B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6205639" cy="4772838"/>
          </a:xfrm>
        </p:spPr>
        <p:txBody>
          <a:bodyPr/>
          <a:lstStyle/>
          <a:p>
            <a:r>
              <a:rPr lang="en-GB" dirty="0"/>
              <a:t>“if a computer can play </a:t>
            </a:r>
            <a:r>
              <a:rPr lang="en-GB" i="1" dirty="0"/>
              <a:t>chess</a:t>
            </a:r>
            <a:r>
              <a:rPr lang="en-GB" dirty="0"/>
              <a:t> well, then surely we must regard it as intelligent, because </a:t>
            </a:r>
            <a:r>
              <a:rPr lang="en-GB" i="1" dirty="0"/>
              <a:t>chess</a:t>
            </a:r>
            <a:r>
              <a:rPr lang="en-GB" dirty="0"/>
              <a:t> is something that requires lots of intelligence and study to do well”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EDEF3-CD11-654B-9843-4B0A1D158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117" y="1159611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7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D3E2-F0FA-DE44-9407-52B03AF8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Football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E656-0F6D-B54D-8B67-2304DBEC5B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6205639" cy="4772838"/>
          </a:xfrm>
        </p:spPr>
        <p:txBody>
          <a:bodyPr/>
          <a:lstStyle/>
          <a:p>
            <a:r>
              <a:rPr lang="en-GB" dirty="0"/>
              <a:t>“chess is easy; but, if a computer can play </a:t>
            </a:r>
            <a:r>
              <a:rPr lang="en-GB" i="1" dirty="0"/>
              <a:t>football</a:t>
            </a:r>
            <a:r>
              <a:rPr lang="en-GB" dirty="0"/>
              <a:t> well, then surely we must regard it as intelligent, because </a:t>
            </a:r>
            <a:r>
              <a:rPr lang="en-GB" i="1" dirty="0"/>
              <a:t>football</a:t>
            </a:r>
            <a:r>
              <a:rPr lang="en-GB" dirty="0"/>
              <a:t> is something that requires lots of practice and skill development to do well, and it has to deal with so many more real-world difficulties than chess”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736F9-6A8E-0E4A-B2B6-CA77D73E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17" y="1159611"/>
            <a:ext cx="3411909" cy="513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7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D3E2-F0FA-DE44-9407-52B03AF8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Conversation (the Turing test etc.)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E656-0F6D-B54D-8B67-2304DBEC5B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6205639" cy="4772838"/>
          </a:xfrm>
        </p:spPr>
        <p:txBody>
          <a:bodyPr/>
          <a:lstStyle/>
          <a:p>
            <a:r>
              <a:rPr lang="en-GB" dirty="0"/>
              <a:t>“all these sports and games are very well, but if a computer can have a convincing </a:t>
            </a:r>
            <a:r>
              <a:rPr lang="en-GB" i="1" dirty="0"/>
              <a:t>conversation</a:t>
            </a:r>
            <a:r>
              <a:rPr lang="en-GB" dirty="0"/>
              <a:t> then surely it must be intelligent”</a:t>
            </a:r>
          </a:p>
          <a:p>
            <a:r>
              <a:rPr lang="en-GB" dirty="0"/>
              <a:t>(echoes of the original Turing test–i.e. can a computer, communicating by text only, over five minutes, have a sufficiently convincing wide-ranging conversation so that it is indistinguishable from a conversation with a person)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465CAF-BC31-AF44-AA2A-4176D83E4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17" y="1159611"/>
            <a:ext cx="5007841" cy="495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44186-2A41-D74A-B677-DF7214E358AA}"/>
              </a:ext>
            </a:extLst>
          </p:cNvPr>
          <p:cNvSpPr txBox="1"/>
          <p:nvPr/>
        </p:nvSpPr>
        <p:spPr>
          <a:xfrm>
            <a:off x="8020681" y="6651294"/>
            <a:ext cx="4169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</a:rPr>
              <a:t> Ann 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</a:rPr>
              <a:t>Witbrock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</a:rPr>
              <a:t>; from Copeland, B.J., </a:t>
            </a:r>
            <a:r>
              <a:rPr lang="en-GB" sz="800" i="1" dirty="0">
                <a:solidFill>
                  <a:schemeClr val="bg1">
                    <a:lumMod val="85000"/>
                  </a:schemeClr>
                </a:solidFill>
              </a:rPr>
              <a:t>Artificial Intelligence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</a:rPr>
              <a:t> Blackwell Publishers, Oxford, 1993.)</a:t>
            </a:r>
            <a:endParaRPr lang="en-GB" sz="8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92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0515-6E28-384C-88D8-A86F11279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AE3F9-6893-FD40-8DA7-06C054E8DC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98364"/>
          </a:xfrm>
        </p:spPr>
        <p:txBody>
          <a:bodyPr/>
          <a:lstStyle/>
          <a:p>
            <a:r>
              <a:rPr lang="en-GB" dirty="0"/>
              <a:t>Three exemplars:</a:t>
            </a:r>
          </a:p>
          <a:p>
            <a:pPr lvl="1"/>
            <a:r>
              <a:rPr lang="en-GB" dirty="0"/>
              <a:t>“if a computer can play </a:t>
            </a:r>
            <a:r>
              <a:rPr lang="en-GB" i="1" dirty="0"/>
              <a:t>chess</a:t>
            </a:r>
            <a:r>
              <a:rPr lang="en-GB" dirty="0"/>
              <a:t> well, then surely we must regard it as intelligent, because </a:t>
            </a:r>
            <a:r>
              <a:rPr lang="en-GB" i="1" dirty="0"/>
              <a:t>chess</a:t>
            </a:r>
            <a:r>
              <a:rPr lang="en-GB" dirty="0"/>
              <a:t> is something that requires lots of intelligence and study to do well”</a:t>
            </a:r>
          </a:p>
          <a:p>
            <a:pPr lvl="1"/>
            <a:r>
              <a:rPr lang="en-GB" dirty="0"/>
              <a:t>“chess is easy; but, if a computer can play </a:t>
            </a:r>
            <a:r>
              <a:rPr lang="en-GB" i="1" dirty="0"/>
              <a:t>football</a:t>
            </a:r>
            <a:r>
              <a:rPr lang="en-GB" dirty="0"/>
              <a:t> well, then surely we must regard it as intelligent, because </a:t>
            </a:r>
            <a:r>
              <a:rPr lang="en-GB" i="1" dirty="0"/>
              <a:t>football</a:t>
            </a:r>
            <a:r>
              <a:rPr lang="en-GB" dirty="0"/>
              <a:t> is something that requires lots of practice and skill development to do well, and it has to deal with so many more real-world difficulties than chess”</a:t>
            </a:r>
          </a:p>
          <a:p>
            <a:pPr lvl="1"/>
            <a:r>
              <a:rPr lang="en-GB" dirty="0"/>
              <a:t>“all these sports and games are very well, but if a computer can have a convincing </a:t>
            </a:r>
            <a:r>
              <a:rPr lang="en-GB" i="1" dirty="0"/>
              <a:t>conversation</a:t>
            </a:r>
            <a:r>
              <a:rPr lang="en-GB" dirty="0"/>
              <a:t> then surely it must be intelligent”</a:t>
            </a:r>
          </a:p>
          <a:p>
            <a:r>
              <a:rPr lang="en-GB" dirty="0"/>
              <a:t>Are any of these arguments convincing? What aspects of general intelligence do they demonstrate? What ways are these tasks limited in a way that means that they are not demonstrations of general intelligence?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852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3C76-0149-7649-8BBD-2E6B27DC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6F3EE-0712-434B-868C-410ACF05DD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Artificial general intelligence</a:t>
            </a:r>
          </a:p>
          <a:p>
            <a:r>
              <a:rPr lang="en-GB" dirty="0"/>
              <a:t>Evaluating intelligence:</a:t>
            </a:r>
          </a:p>
          <a:p>
            <a:pPr lvl="1"/>
            <a:r>
              <a:rPr lang="en-GB" dirty="0"/>
              <a:t>for objectively defined measures</a:t>
            </a:r>
          </a:p>
          <a:p>
            <a:pPr lvl="1"/>
            <a:r>
              <a:rPr lang="en-GB" dirty="0"/>
              <a:t>for subjective and creative topics</a:t>
            </a:r>
          </a:p>
          <a:p>
            <a:r>
              <a:rPr lang="en-GB" dirty="0"/>
              <a:t>Exemplars </a:t>
            </a:r>
            <a:r>
              <a:rPr lang="en-GB"/>
              <a:t>for intelligence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442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Notts">
      <a:dk1>
        <a:sysClr val="windowText" lastClr="000000"/>
      </a:dk1>
      <a:lt1>
        <a:sysClr val="window" lastClr="FFFFFF"/>
      </a:lt1>
      <a:dk2>
        <a:srgbClr val="007DA8"/>
      </a:dk2>
      <a:lt2>
        <a:srgbClr val="009BBD"/>
      </a:lt2>
      <a:accent1>
        <a:srgbClr val="005697"/>
      </a:accent1>
      <a:accent2>
        <a:srgbClr val="1B2A6B"/>
      </a:accent2>
      <a:accent3>
        <a:srgbClr val="191A4F"/>
      </a:accent3>
      <a:accent4>
        <a:srgbClr val="B32C76"/>
      </a:accent4>
      <a:accent5>
        <a:srgbClr val="D27826"/>
      </a:accent5>
      <a:accent6>
        <a:srgbClr val="38A159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70000">
              <a:srgbClr val="00487E">
                <a:lumMod val="85000"/>
                <a:lumOff val="15000"/>
              </a:srgbClr>
            </a:gs>
            <a:gs pos="17000">
              <a:schemeClr val="accent1"/>
            </a:gs>
            <a:gs pos="100000">
              <a:schemeClr val="accent1">
                <a:lumMod val="7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sz="2400" b="1" dirty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A3D2834E-CE8D-084F-AB9E-7479A63A9E3F}" vid="{F55BD544-069E-7D46-8448-AE90783330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3968</TotalTime>
  <Words>1331</Words>
  <Application>Microsoft Macintosh PowerPoint</Application>
  <PresentationFormat>Widescreen</PresentationFormat>
  <Paragraphs>87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Schoolbook</vt:lpstr>
      <vt:lpstr>Times New Roman</vt:lpstr>
      <vt:lpstr>Office Theme</vt:lpstr>
      <vt:lpstr>Designing Intelligent Agents: Evaluating Intelligence</vt:lpstr>
      <vt:lpstr>Artificial (General) Intelligence</vt:lpstr>
      <vt:lpstr>Evaluating Intelligence</vt:lpstr>
      <vt:lpstr>Evaluating Intelligence</vt:lpstr>
      <vt:lpstr>Evaluating Task Performance (Objective Measures)</vt:lpstr>
      <vt:lpstr>What if the task is more subjective? </vt:lpstr>
      <vt:lpstr>Evaluating Creative Intelligence</vt:lpstr>
      <vt:lpstr>Exemplars for AGI</vt:lpstr>
      <vt:lpstr>Chess</vt:lpstr>
      <vt:lpstr>Football</vt:lpstr>
      <vt:lpstr>Conversation (the Turing test etc.)</vt:lpstr>
      <vt:lpstr>Task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Slide</dc:title>
  <dc:creator>Colin Johnson</dc:creator>
  <cp:lastModifiedBy>Colin Johnson (staff)</cp:lastModifiedBy>
  <cp:revision>151</cp:revision>
  <dcterms:created xsi:type="dcterms:W3CDTF">2020-09-20T18:59:32Z</dcterms:created>
  <dcterms:modified xsi:type="dcterms:W3CDTF">2025-04-27T08:32:28Z</dcterms:modified>
</cp:coreProperties>
</file>